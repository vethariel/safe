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Fira Code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FiraCode-bold.fntdata"/><Relationship Id="rId6" Type="http://schemas.openxmlformats.org/officeDocument/2006/relationships/slide" Target="slides/slide1.xml"/><Relationship Id="rId18" Type="http://schemas.openxmlformats.org/officeDocument/2006/relationships/font" Target="fonts/FiraCod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caee5f2e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acaee5f2ec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caee5f2ec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caee5f2e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20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Relationship Id="rId7" Type="http://schemas.openxmlformats.org/officeDocument/2006/relationships/image" Target="../media/image19.png"/><Relationship Id="rId8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2728950" y="2512100"/>
            <a:ext cx="6726600" cy="56100"/>
          </a:xfrm>
          <a:prstGeom prst="rect">
            <a:avLst/>
          </a:prstGeom>
          <a:solidFill>
            <a:srgbClr val="C59D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 b="44762" l="41833" r="40355" t="32915"/>
          <a:stretch/>
        </p:blipFill>
        <p:spPr>
          <a:xfrm>
            <a:off x="4946550" y="957250"/>
            <a:ext cx="2298900" cy="1299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00" y="273995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SAFE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345600" y="3465812"/>
            <a:ext cx="550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C59D34"/>
                </a:solidFill>
                <a:latin typeface="Poppins"/>
                <a:ea typeface="Poppins"/>
                <a:cs typeface="Poppins"/>
                <a:sym typeface="Poppins"/>
              </a:rPr>
              <a:t>Sistema </a:t>
            </a:r>
            <a:r>
              <a:rPr lang="en-US" sz="2100">
                <a:solidFill>
                  <a:srgbClr val="C59D34"/>
                </a:solidFill>
                <a:latin typeface="Poppins"/>
                <a:ea typeface="Poppins"/>
                <a:cs typeface="Poppins"/>
                <a:sym typeface="Poppins"/>
              </a:rPr>
              <a:t>Académico</a:t>
            </a:r>
            <a:r>
              <a:rPr lang="en-US" sz="2100">
                <a:solidFill>
                  <a:srgbClr val="C59D34"/>
                </a:solidFill>
                <a:latin typeface="Poppins"/>
                <a:ea typeface="Poppins"/>
                <a:cs typeface="Poppins"/>
                <a:sym typeface="Poppins"/>
              </a:rPr>
              <a:t> de Formación Empresarial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341850" y="4449102"/>
            <a:ext cx="550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Daniel A. Cely | Tomás Bermudez</a:t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Daniel Gracia | David A. Herrera</a:t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341850" y="5321562"/>
            <a:ext cx="5500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Ingeniería de Software I</a:t>
            </a:r>
            <a:endParaRPr sz="21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Universidad Nacional de Colombia</a:t>
            </a:r>
            <a:endParaRPr sz="21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2925" y="182075"/>
            <a:ext cx="4398701" cy="64282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Arquitectura General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1352550"/>
            <a:ext cx="6726600" cy="56100"/>
          </a:xfrm>
          <a:prstGeom prst="rect">
            <a:avLst/>
          </a:prstGeom>
          <a:solidFill>
            <a:srgbClr val="C59D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543175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Monolito Modular: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Estructura robusta basada en el patrón MVT (Modelo-Vista-Template) de Django.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3305175"/>
            <a:ext cx="504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1. Presentación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Django Templates renderizados en servidor.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3305175"/>
            <a:ext cx="38100" cy="609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4105275"/>
            <a:ext cx="504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2. Lógica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Vistas basadas en clases (CBV) y decoradores.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4105275"/>
            <a:ext cx="38100" cy="609600"/>
          </a:xfrm>
          <a:prstGeom prst="rect">
            <a:avLst/>
          </a:prstGeom>
          <a:solidFill>
            <a:srgbClr val="C59D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4905375"/>
            <a:ext cx="504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3. Persistencia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ORM de Django sobre PostgreSQL.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4905375"/>
            <a:ext cx="38100" cy="6096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5200" y="293421"/>
            <a:ext cx="3675300" cy="6428400"/>
          </a:xfrm>
          <a:prstGeom prst="roundRect">
            <a:avLst>
              <a:gd fmla="val 538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050" y="1704975"/>
            <a:ext cx="497205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9800" y="1752600"/>
            <a:ext cx="504825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9925" y="3971925"/>
            <a:ext cx="4994290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4563" y="3976688"/>
            <a:ext cx="5038725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Entidades de Dominio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1352550"/>
            <a:ext cx="6726600" cy="56100"/>
          </a:xfrm>
          <a:prstGeom prst="rect">
            <a:avLst/>
          </a:prstGeom>
          <a:solidFill>
            <a:srgbClr val="C59D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4050" y="1798300"/>
            <a:ext cx="5238750" cy="451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571500"/>
            <a:ext cx="116014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Estructura Modular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571500" y="1352550"/>
            <a:ext cx="11049000" cy="38100"/>
          </a:xfrm>
          <a:prstGeom prst="rect">
            <a:avLst/>
          </a:prstGeom>
          <a:solidFill>
            <a:srgbClr val="C59D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1852612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59D34"/>
                </a:solidFill>
                <a:latin typeface="Poppins"/>
                <a:ea typeface="Poppins"/>
                <a:cs typeface="Poppins"/>
                <a:sym typeface="Poppins"/>
              </a:rPr>
              <a:t>Organización por Dominio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244316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Cada funcionalidad principal (Usuarios, Cursos, Inscripciones) reside en su propia "App" de Django independiente.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3500437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59D34"/>
                </a:solidFill>
                <a:latin typeface="Poppins"/>
                <a:ea typeface="Poppins"/>
                <a:cs typeface="Poppins"/>
                <a:sym typeface="Poppins"/>
              </a:rPr>
              <a:t>Separación de Responsabilidades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409098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Dentro de cada módulo, como accounts, separamos claramente: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677025" y="2066925"/>
            <a:ext cx="46482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59D34"/>
                </a:solidFill>
                <a:latin typeface="Fira Code"/>
                <a:ea typeface="Fira Code"/>
                <a:cs typeface="Fira Code"/>
                <a:sym typeface="Fira Code"/>
              </a:rPr>
              <a:t>SAFE/</a:t>
            </a:r>
            <a:endParaRPr b="1" i="0" sz="1200" u="none" cap="none" strike="noStrike">
              <a:solidFill>
                <a:srgbClr val="C59D3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C59D34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6867525" y="2341215"/>
            <a:ext cx="4457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├── </a:t>
            </a:r>
            <a:r>
              <a:rPr b="1" i="0" lang="en-US" sz="1200" u="none" cap="none" strike="noStrike">
                <a:solidFill>
                  <a:srgbClr val="C59D34"/>
                </a:solidFill>
                <a:latin typeface="Fira Code"/>
                <a:ea typeface="Fira Code"/>
                <a:cs typeface="Fira Code"/>
                <a:sym typeface="Fira Code"/>
              </a:rPr>
              <a:t>accounts/</a:t>
            </a:r>
            <a:r>
              <a:rPr b="0" i="0" lang="en-US" sz="12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1" lang="en-US" sz="12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&lt;-- App Principal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058025" y="261550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├── </a:t>
            </a:r>
            <a:r>
              <a:rPr b="0" i="0" lang="en-US" sz="1200" u="none" cap="none" strike="noStrike">
                <a:solidFill>
                  <a:srgbClr val="0A192F"/>
                </a:solidFill>
                <a:latin typeface="Fira Code"/>
                <a:ea typeface="Fira Code"/>
                <a:cs typeface="Fira Code"/>
                <a:sym typeface="Fira Code"/>
              </a:rPr>
              <a:t>models.py</a:t>
            </a:r>
            <a:r>
              <a:rPr b="0" i="0" lang="en-US" sz="12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1" lang="en-US" sz="12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# Datos (AppUser)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058025" y="288979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├── </a:t>
            </a:r>
            <a:r>
              <a:rPr b="0" i="0" lang="en-US" sz="1200" u="none" cap="none" strike="noStrike">
                <a:solidFill>
                  <a:srgbClr val="0A192F"/>
                </a:solidFill>
                <a:latin typeface="Fira Code"/>
                <a:ea typeface="Fira Code"/>
                <a:cs typeface="Fira Code"/>
                <a:sym typeface="Fira Code"/>
              </a:rPr>
              <a:t>views.py</a:t>
            </a:r>
            <a:r>
              <a:rPr b="0" i="0" lang="en-US" sz="12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1" lang="en-US" sz="12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# Lógica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058025" y="316408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├── </a:t>
            </a:r>
            <a:r>
              <a:rPr b="0" i="0" lang="en-US" sz="1200" u="none" cap="none" strike="noStrike">
                <a:solidFill>
                  <a:srgbClr val="0A192F"/>
                </a:solidFill>
                <a:latin typeface="Fira Code"/>
                <a:ea typeface="Fira Code"/>
                <a:cs typeface="Fira Code"/>
                <a:sym typeface="Fira Code"/>
              </a:rPr>
              <a:t>urls.py</a:t>
            </a:r>
            <a:r>
              <a:rPr b="0" i="0" lang="en-US" sz="12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1" lang="en-US" sz="12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# Rutas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058025" y="3689034"/>
            <a:ext cx="4267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└── </a:t>
            </a:r>
            <a:r>
              <a:rPr b="1" i="0" lang="en-US" sz="1200" u="none" cap="none" strike="noStrike">
                <a:solidFill>
                  <a:srgbClr val="C59D34"/>
                </a:solidFill>
                <a:latin typeface="Fira Code"/>
                <a:ea typeface="Fira Code"/>
                <a:cs typeface="Fira Code"/>
                <a:sym typeface="Fira Code"/>
              </a:rPr>
              <a:t>templates/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7248525" y="3963324"/>
            <a:ext cx="407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└── </a:t>
            </a:r>
            <a:r>
              <a:rPr b="0" i="0" lang="en-US" sz="1200" u="none" cap="none" strike="noStrike">
                <a:solidFill>
                  <a:srgbClr val="0A192F"/>
                </a:solidFill>
                <a:latin typeface="Fira Code"/>
                <a:ea typeface="Fira Code"/>
                <a:cs typeface="Fira Code"/>
                <a:sym typeface="Fira Code"/>
              </a:rPr>
              <a:t>profile.html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867525" y="4697222"/>
            <a:ext cx="445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├── </a:t>
            </a:r>
            <a:r>
              <a:rPr b="1" i="0" lang="en-US" sz="1200" u="none" cap="none" strike="noStrike">
                <a:solidFill>
                  <a:srgbClr val="C59D34"/>
                </a:solidFill>
                <a:latin typeface="Fira Code"/>
                <a:ea typeface="Fira Code"/>
                <a:cs typeface="Fira Code"/>
                <a:sym typeface="Fira Code"/>
              </a:rPr>
              <a:t>courses/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867525" y="4949107"/>
            <a:ext cx="445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├── </a:t>
            </a:r>
            <a:r>
              <a:rPr b="1" i="0" lang="en-US" sz="1200" u="none" cap="none" strike="noStrike">
                <a:solidFill>
                  <a:srgbClr val="C59D34"/>
                </a:solidFill>
                <a:latin typeface="Fira Code"/>
                <a:ea typeface="Fira Code"/>
                <a:cs typeface="Fira Code"/>
                <a:sym typeface="Fira Code"/>
              </a:rPr>
              <a:t>enrollments/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867525" y="5457283"/>
            <a:ext cx="445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└── </a:t>
            </a:r>
            <a:r>
              <a:rPr b="1" i="0" lang="en-US" sz="1200" u="none" cap="none" strike="noStrike">
                <a:solidFill>
                  <a:srgbClr val="C59D34"/>
                </a:solidFill>
                <a:latin typeface="Fira Code"/>
                <a:ea typeface="Fira Code"/>
                <a:cs typeface="Fira Code"/>
                <a:sym typeface="Fira Code"/>
              </a:rPr>
              <a:t>config/</a:t>
            </a:r>
            <a:r>
              <a:rPr b="0" i="0" lang="en-US" sz="12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1" lang="en-US" sz="12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# Settings Globales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66775" y="4852987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52500" y="48529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Datos: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models.py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66775" y="530066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52500" y="5300662"/>
            <a:ext cx="485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Lógica: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views.py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66775" y="5748337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52500" y="574833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Rutas: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urls.py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248525" y="4168932"/>
            <a:ext cx="407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└── </a:t>
            </a:r>
            <a:r>
              <a:rPr lang="en-US" sz="1200">
                <a:solidFill>
                  <a:srgbClr val="0A192F"/>
                </a:solidFill>
                <a:latin typeface="Fira Code"/>
                <a:ea typeface="Fira Code"/>
                <a:cs typeface="Fira Code"/>
                <a:sym typeface="Fira Code"/>
              </a:rPr>
              <a:t>login</a:t>
            </a:r>
            <a:r>
              <a:rPr b="0" i="0" lang="en-US" sz="1200" u="none" cap="none" strike="noStrike">
                <a:solidFill>
                  <a:srgbClr val="0A192F"/>
                </a:solidFill>
                <a:latin typeface="Fira Code"/>
                <a:ea typeface="Fira Code"/>
                <a:cs typeface="Fira Code"/>
                <a:sym typeface="Fira Code"/>
              </a:rPr>
              <a:t>.html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867525" y="4433072"/>
            <a:ext cx="445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├── </a:t>
            </a:r>
            <a:r>
              <a:rPr b="1" lang="en-US" sz="1200">
                <a:solidFill>
                  <a:srgbClr val="C59D34"/>
                </a:solidFill>
                <a:latin typeface="Fira Code"/>
                <a:ea typeface="Fira Code"/>
                <a:cs typeface="Fira Code"/>
                <a:sym typeface="Fira Code"/>
              </a:rPr>
              <a:t>administration</a:t>
            </a:r>
            <a:r>
              <a:rPr b="1" i="0" lang="en-US" sz="1200" u="none" cap="none" strike="noStrike">
                <a:solidFill>
                  <a:srgbClr val="C59D34"/>
                </a:solidFill>
                <a:latin typeface="Fira Code"/>
                <a:ea typeface="Fira Code"/>
                <a:cs typeface="Fira Code"/>
                <a:sym typeface="Fira Code"/>
              </a:rPr>
              <a:t>/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867525" y="5203194"/>
            <a:ext cx="445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├── </a:t>
            </a:r>
            <a:r>
              <a:rPr b="1" lang="en-US" sz="1200">
                <a:solidFill>
                  <a:srgbClr val="C59D34"/>
                </a:solidFill>
                <a:latin typeface="Fira Code"/>
                <a:ea typeface="Fira Code"/>
                <a:cs typeface="Fira Code"/>
                <a:sym typeface="Fira Code"/>
              </a:rPr>
              <a:t>learning_paths</a:t>
            </a:r>
            <a:r>
              <a:rPr b="1" i="0" lang="en-US" sz="1200" u="none" cap="none" strike="noStrike">
                <a:solidFill>
                  <a:srgbClr val="C59D34"/>
                </a:solidFill>
                <a:latin typeface="Fira Code"/>
                <a:ea typeface="Fira Code"/>
                <a:cs typeface="Fira Code"/>
                <a:sym typeface="Fira Code"/>
              </a:rPr>
              <a:t>/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153275" y="5711382"/>
            <a:ext cx="407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└── </a:t>
            </a:r>
            <a:r>
              <a:rPr lang="en-US" sz="1200">
                <a:solidFill>
                  <a:srgbClr val="0A192F"/>
                </a:solidFill>
                <a:latin typeface="Fira Code"/>
                <a:ea typeface="Fira Code"/>
                <a:cs typeface="Fira Code"/>
                <a:sym typeface="Fira Code"/>
              </a:rPr>
              <a:t>settings</a:t>
            </a:r>
            <a:r>
              <a:rPr b="0" i="0" lang="en-US" sz="1200" u="none" cap="none" strike="noStrike">
                <a:solidFill>
                  <a:srgbClr val="0A192F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0A192F"/>
                </a:solidFill>
                <a:latin typeface="Fira Code"/>
                <a:ea typeface="Fira Code"/>
                <a:cs typeface="Fira Code"/>
                <a:sym typeface="Fira Code"/>
              </a:rPr>
              <a:t>py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060030" y="3429281"/>
            <a:ext cx="4267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├── </a:t>
            </a:r>
            <a:r>
              <a:rPr lang="en-US" sz="1200">
                <a:solidFill>
                  <a:srgbClr val="0A192F"/>
                </a:solidFill>
                <a:latin typeface="Fira Code"/>
                <a:ea typeface="Fira Code"/>
                <a:cs typeface="Fira Code"/>
                <a:sym typeface="Fira Code"/>
              </a:rPr>
              <a:t>tests</a:t>
            </a:r>
            <a:r>
              <a:rPr b="0" i="0" lang="en-US" sz="1200" u="none" cap="none" strike="noStrike">
                <a:solidFill>
                  <a:srgbClr val="0A192F"/>
                </a:solidFill>
                <a:latin typeface="Fira Code"/>
                <a:ea typeface="Fira Code"/>
                <a:cs typeface="Fira Code"/>
                <a:sym typeface="Fira Code"/>
              </a:rPr>
              <a:t>.py</a:t>
            </a:r>
            <a:r>
              <a:rPr b="0" i="0" lang="en-US" sz="12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1" lang="en-US" sz="12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# </a:t>
            </a:r>
            <a:r>
              <a:rPr i="1" lang="en-US" sz="1200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pruebas unitarias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54675"/>
            <a:ext cx="5238750" cy="502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54675"/>
            <a:ext cx="5238750" cy="502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Desafíos </a:t>
            </a:r>
            <a:r>
              <a:rPr b="1" lang="en-US" sz="360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Técnicos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571500" y="1352550"/>
            <a:ext cx="11049000" cy="38100"/>
          </a:xfrm>
          <a:prstGeom prst="rect">
            <a:avLst/>
          </a:prstGeom>
          <a:solidFill>
            <a:srgbClr val="C59D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08330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962025" y="2778626"/>
            <a:ext cx="206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Mayores </a:t>
            </a:r>
            <a:r>
              <a:rPr b="1" lang="en-US" sz="180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desafíos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62025" y="3445376"/>
            <a:ext cx="3238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Autoaprendizaje del Ecosistema:</a:t>
            </a:r>
            <a:endParaRPr/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208330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6772275" y="2778626"/>
            <a:ext cx="233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Lección Aprendida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772275" y="3445376"/>
            <a:ext cx="4457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Definición y delimitación de requerimientos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772275" y="4083551"/>
            <a:ext cx="44577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Subestimamos </a:t>
            </a:r>
            <a:r>
              <a:rPr lang="en-US" sz="16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la complejidad de algunos de los requerimientos. Los </a:t>
            </a:r>
            <a:r>
              <a:rPr lang="en-US" sz="16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límites</a:t>
            </a:r>
            <a:r>
              <a:rPr lang="en-US" sz="16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de algunos no eran totalmente claros. </a:t>
            </a:r>
            <a:endParaRPr sz="1600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Otros requerimientos se cruzaban entre sí, obligando a dos personas a tocar el mismo archivo</a:t>
            </a:r>
            <a:endParaRPr sz="1600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1257300" y="4064501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343025" y="4064501"/>
            <a:ext cx="4076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Manejo de versiones y ramificación sin </a:t>
            </a:r>
            <a:r>
              <a:rPr lang="en-US" sz="15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pérdida</a:t>
            </a:r>
            <a:r>
              <a:rPr lang="en-US" sz="15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de funcionalidades o avances. 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257300" y="493395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343025" y="4886512"/>
            <a:ext cx="40767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37415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El proceso de autoaprendizaje con Django y su ecosistema</a:t>
            </a:r>
            <a:endParaRPr sz="1800"/>
          </a:p>
        </p:txBody>
      </p:sp>
      <p:sp>
        <p:nvSpPr>
          <p:cNvPr id="166" name="Google Shape;166;p17"/>
          <p:cNvSpPr txBox="1"/>
          <p:nvPr/>
        </p:nvSpPr>
        <p:spPr>
          <a:xfrm>
            <a:off x="1257300" y="5686425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343025" y="5686425"/>
            <a:ext cx="4076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Dependencia del avance de otros requerimientos.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71650"/>
            <a:ext cx="5238750" cy="3196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71650"/>
            <a:ext cx="5238750" cy="3196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571500" y="571500"/>
            <a:ext cx="116014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Reflexiones del Equipo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71500" y="1352550"/>
            <a:ext cx="11049000" cy="38100"/>
          </a:xfrm>
          <a:prstGeom prst="rect">
            <a:avLst/>
          </a:prstGeom>
          <a:solidFill>
            <a:srgbClr val="C59D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16217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1802475" y="2290763"/>
            <a:ext cx="320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Comunicación Constante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962025" y="2857500"/>
            <a:ext cx="44577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No basta con repartir tareas al inicio. La sincronización </a:t>
            </a:r>
            <a:r>
              <a:rPr lang="en-US" sz="17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constante es</a:t>
            </a:r>
            <a:r>
              <a:rPr b="0" i="0" lang="en-US" sz="17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vital para resolver dudas sobre cómo los cambios en un módulo </a:t>
            </a:r>
            <a:r>
              <a:rPr lang="en-US" sz="17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afectan</a:t>
            </a:r>
            <a:r>
              <a:rPr b="0" i="0" lang="en-US" sz="17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la integridad del sistema global.</a:t>
            </a:r>
            <a:endParaRPr sz="1600"/>
          </a:p>
        </p:txBody>
      </p:sp>
      <p:pic>
        <p:nvPicPr>
          <p:cNvPr descr="image.png" id="179" name="Google Shape;17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216217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7556700" y="2290763"/>
            <a:ext cx="227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División de Tareas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772275" y="2857500"/>
            <a:ext cx="44577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Dividimos el trabajo por requerimientos</a:t>
            </a:r>
            <a:r>
              <a:rPr lang="en-US" sz="17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y su complejidad.</a:t>
            </a:r>
            <a:endParaRPr sz="1700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b="0" i="0" lang="en-US" sz="17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equeños" requerimientos pueden esconder grandes complejidades técnicas</a:t>
            </a:r>
            <a:r>
              <a:rPr lang="en-US" sz="17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y viceversa.</a:t>
            </a:r>
            <a:endParaRPr sz="1600"/>
          </a:p>
        </p:txBody>
      </p:sp>
      <p:pic>
        <p:nvPicPr>
          <p:cNvPr descr="image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2696" y="5348950"/>
            <a:ext cx="5160900" cy="1333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4219350" y="5534200"/>
            <a:ext cx="3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Priorización de funcionalidad</a:t>
            </a:r>
            <a:endParaRPr/>
          </a:p>
        </p:txBody>
      </p:sp>
      <p:pic>
        <p:nvPicPr>
          <p:cNvPr descr="image.png" id="184" name="Google Shape;1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7250" y="5444200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71650"/>
            <a:ext cx="3492549" cy="451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1771650"/>
            <a:ext cx="3492549" cy="451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1771650"/>
            <a:ext cx="3492549" cy="451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571500" y="571500"/>
            <a:ext cx="116014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Feedback del Curso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571500" y="1352550"/>
            <a:ext cx="11049000" cy="38100"/>
          </a:xfrm>
          <a:prstGeom prst="rect">
            <a:avLst/>
          </a:prstGeom>
          <a:solidFill>
            <a:srgbClr val="C59D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4" name="Google Shape;19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1621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962025" y="2857500"/>
            <a:ext cx="15801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Satisfacción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962025" y="3524250"/>
            <a:ext cx="27114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Contenidos sólidos y completos que abarcan integralmente el ciclo de vida del software.</a:t>
            </a:r>
            <a:endParaRPr b="0" i="0" sz="1500" u="none" cap="none" strike="noStrik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Buenas bases para construir código de calidad. </a:t>
            </a:r>
            <a:endParaRPr sz="1500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image.png" id="197" name="Google Shape;19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0324" y="21621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4740324" y="2857500"/>
            <a:ext cx="159019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Limitaciones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4740324" y="3524250"/>
            <a:ext cx="27114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La curva de aprendizaje de los nuevos frameworks chocó con las estimaciones de tiempo.</a:t>
            </a:r>
            <a:endParaRPr/>
          </a:p>
        </p:txBody>
      </p:sp>
      <p:pic>
        <p:nvPicPr>
          <p:cNvPr descr="image.png" id="200" name="Google Shape;20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18624" y="2162175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8518624" y="2857500"/>
            <a:ext cx="128016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Propuesta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8518624" y="3524250"/>
            <a:ext cx="2711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Posibilidad de aprendizaje sobre despliegue en la nube y bases cloud computing.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 txBox="1"/>
          <p:nvPr/>
        </p:nvSpPr>
        <p:spPr>
          <a:xfrm>
            <a:off x="295275" y="2152650"/>
            <a:ext cx="116016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¡Gracias!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571500" y="3962400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Equipo Error 404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